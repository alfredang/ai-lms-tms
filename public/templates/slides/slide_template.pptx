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2" r:id="rId4"/>
    <p:sldMasterId id="2147483693" r:id="rId5"/>
    <p:sldMasterId id="214748369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embeddedFontLst>
    <p:embeddedFont>
      <p:font typeface="Comforta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Comfortaa-bold.fntdata"/><Relationship Id="rId12" Type="http://schemas.openxmlformats.org/officeDocument/2006/relationships/slide" Target="slides/slide5.xml"/><Relationship Id="rId34" Type="http://schemas.openxmlformats.org/officeDocument/2006/relationships/font" Target="fonts/Comfortaa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aa0760a9f_2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aa0760a9f_2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2aca7d526_0_251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04" name="Google Shape;204;g3c2aca7d526_0_251:notes"/>
          <p:cNvSpPr/>
          <p:nvPr>
            <p:ph idx="2" type="sldImg"/>
          </p:nvPr>
        </p:nvSpPr>
        <p:spPr>
          <a:xfrm>
            <a:off x="381177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2aca7d526_0_257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11" name="Google Shape;211;g3c2aca7d526_0_257:notes"/>
          <p:cNvSpPr/>
          <p:nvPr>
            <p:ph idx="2" type="sldImg"/>
          </p:nvPr>
        </p:nvSpPr>
        <p:spPr>
          <a:xfrm>
            <a:off x="381175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2aca7d526_0_279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-215900" lvl="0" marL="215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6" name="Google Shape;216;g3c2aca7d526_0_279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2aca7d526_0_285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-215900" lvl="0" marL="215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3" name="Google Shape;223;g3c2aca7d526_0_285:notes"/>
          <p:cNvSpPr/>
          <p:nvPr>
            <p:ph idx="2" type="sldImg"/>
          </p:nvPr>
        </p:nvSpPr>
        <p:spPr>
          <a:xfrm>
            <a:off x="381175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2aca7d526_0_291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-215900" lvl="0" marL="215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0" name="Google Shape;230;g3c2aca7d526_0_291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2aca7d526_0_297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-215900" lvl="0" marL="215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7" name="Google Shape;237;g3c2aca7d526_0_297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2aca7d526_0_303:notes"/>
          <p:cNvSpPr/>
          <p:nvPr>
            <p:ph idx="2" type="sldImg"/>
          </p:nvPr>
        </p:nvSpPr>
        <p:spPr>
          <a:xfrm>
            <a:off x="381175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2aca7d526_0_303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http://www.tkdocs.com/tutorial/install.html#installwin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2aca7d526_0_309:notes"/>
          <p:cNvSpPr/>
          <p:nvPr>
            <p:ph idx="2" type="sldImg"/>
          </p:nvPr>
        </p:nvSpPr>
        <p:spPr>
          <a:xfrm>
            <a:off x="381175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2aca7d526_0_309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http://www.tkdocs.com/tutorial/install.html#installwin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2aca7d526_0_315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8" name="Google Shape;258;g3c2aca7d526_0_315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2aca7d526_0_320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c2aca7d526_0_320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2aca7d526_0_325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c2aca7d526_0_325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2aca7d526_0_330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2aca7d526_0_330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2aca7d526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2aca7d526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2aca7d526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2aca7d526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2aca7d526_0_347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600" lIns="88600" spcFirstLastPara="1" rIns="88600" wrap="square" tIns="8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96" name="Google Shape;296;g3c2aca7d526_0_347:notes"/>
          <p:cNvSpPr/>
          <p:nvPr>
            <p:ph idx="2" type="sldImg"/>
          </p:nvPr>
        </p:nvSpPr>
        <p:spPr>
          <a:xfrm>
            <a:off x="381175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2aca7d526_0_353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c2aca7d526_0_353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7f6ea3d2a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27f6ea3d2ae_0_2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2aca7d526_0_503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c2aca7d526_0_503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2aca7d526_0_508:notes"/>
          <p:cNvSpPr/>
          <p:nvPr>
            <p:ph idx="2" type="sldImg"/>
          </p:nvPr>
        </p:nvSpPr>
        <p:spPr>
          <a:xfrm>
            <a:off x="381161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2aca7d526_0_508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2aca7d526_0_515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c2aca7d526_0_515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2aca7d526_0_523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37" name="Google Shape;337;g3c2aca7d526_0_523:notes"/>
          <p:cNvSpPr/>
          <p:nvPr>
            <p:ph idx="2" type="sldImg"/>
          </p:nvPr>
        </p:nvSpPr>
        <p:spPr>
          <a:xfrm>
            <a:off x="381177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2aca7d526_0_529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c2aca7d526_0_529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Assessor Guide: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the access 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https://colab.research.google.com/drive/1Z3GWKczCULhG6Gd86vvYbykwCqjcUIn9?usp=sharing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2aca7d526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2aca7d526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2aca7d526_0_540:notes"/>
          <p:cNvSpPr/>
          <p:nvPr>
            <p:ph idx="2" type="sldImg"/>
          </p:nvPr>
        </p:nvSpPr>
        <p:spPr>
          <a:xfrm>
            <a:off x="381161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c2aca7d526_0_540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2aca7d526_0_546:notes"/>
          <p:cNvSpPr/>
          <p:nvPr>
            <p:ph idx="2" type="sldImg"/>
          </p:nvPr>
        </p:nvSpPr>
        <p:spPr>
          <a:xfrm>
            <a:off x="381188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2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c2aca7d526_0_546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8575" lIns="88575" spcFirstLastPara="1" rIns="88575" wrap="square" tIns="8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0" y="4836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This material belongs to </a:t>
            </a:r>
            <a:r>
              <a:rPr lang="en" sz="900">
                <a:solidFill>
                  <a:schemeClr val="dk1"/>
                </a:solidFill>
              </a:rPr>
              <a:t>Tertiary Infotech Pte Ltd </a:t>
            </a:r>
            <a:r>
              <a:rPr lang="en" sz="900">
                <a:solidFill>
                  <a:schemeClr val="dk1"/>
                </a:solidFill>
              </a:rPr>
              <a:t>(UEN: 20120096W). All Rights Reserved</a:t>
            </a:r>
            <a:endParaRPr sz="9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4 points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8 points">
  <p:cSld name="TITLE_AND_BODY_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8 points">
  <p:cSld name="TITLE_AND_BOD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0" y="0"/>
            <a:ext cx="9144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565600" y="3113125"/>
            <a:ext cx="3578400" cy="17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indent="-3302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grpSp>
        <p:nvGrpSpPr>
          <p:cNvPr id="28" name="Google Shape;28;p6"/>
          <p:cNvGrpSpPr/>
          <p:nvPr/>
        </p:nvGrpSpPr>
        <p:grpSpPr>
          <a:xfrm>
            <a:off x="152400" y="2782900"/>
            <a:ext cx="4030969" cy="2010404"/>
            <a:chOff x="152400" y="2782900"/>
            <a:chExt cx="4030969" cy="2010404"/>
          </a:xfrm>
        </p:grpSpPr>
        <p:pic>
          <p:nvPicPr>
            <p:cNvPr id="29" name="Google Shape;2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94925" y="2782900"/>
              <a:ext cx="2441400" cy="111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47900" y="3955174"/>
              <a:ext cx="3135469" cy="71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ertiarylogo.png" id="31" name="Google Shape;31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2400" y="3897803"/>
              <a:ext cx="895500" cy="89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Title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358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type="ctrTitle"/>
          </p:nvPr>
        </p:nvSpPr>
        <p:spPr>
          <a:xfrm>
            <a:off x="0" y="439775"/>
            <a:ext cx="91440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24965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2" type="body"/>
          </p:nvPr>
        </p:nvSpPr>
        <p:spPr>
          <a:xfrm>
            <a:off x="482570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eft column">
  <p:cSld name="TITLE_AND_TWO_COLUMNS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249650" y="775625"/>
            <a:ext cx="49755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column">
  <p:cSld name="TITLE_AND_TWO_COLUMNS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051250" y="775625"/>
            <a:ext cx="48804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75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0" y="4836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This material belongs to Tertiary Infotech Academy Pte Ltd (UEN: 20120096W). All Rights Reserved</a:t>
            </a:r>
            <a:endParaRPr sz="9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4 points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8 points">
  <p:cSld name="TITLE_AND_BODY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8 points">
  <p:cSld name="TITLE_AND_BODY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TITLE_AND_BODY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0" y="0"/>
            <a:ext cx="9144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5565600" y="3113125"/>
            <a:ext cx="3578400" cy="17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indent="-3302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grpSp>
        <p:nvGrpSpPr>
          <p:cNvPr id="74" name="Google Shape;74;p17"/>
          <p:cNvGrpSpPr/>
          <p:nvPr/>
        </p:nvGrpSpPr>
        <p:grpSpPr>
          <a:xfrm>
            <a:off x="152400" y="2782900"/>
            <a:ext cx="4030969" cy="2010404"/>
            <a:chOff x="152400" y="2782900"/>
            <a:chExt cx="4030969" cy="2010404"/>
          </a:xfrm>
        </p:grpSpPr>
        <p:pic>
          <p:nvPicPr>
            <p:cNvPr id="75" name="Google Shape;75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94925" y="2782900"/>
              <a:ext cx="2441400" cy="111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47900" y="3955174"/>
              <a:ext cx="3135469" cy="71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ertiarylogo.png" id="77" name="Google Shape;77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2400" y="3897803"/>
              <a:ext cx="895500" cy="89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Title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8"/>
          <p:cNvSpPr txBox="1"/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249650" y="756300"/>
            <a:ext cx="41061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2" type="body"/>
          </p:nvPr>
        </p:nvSpPr>
        <p:spPr>
          <a:xfrm>
            <a:off x="4825700" y="794925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eft column">
  <p:cSld name="TITLE_AND_TWO_COLUMNS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277325" y="756300"/>
            <a:ext cx="48741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column">
  <p:cSld name="TITLE_AND_TWO_COLUMNS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4036775" y="756300"/>
            <a:ext cx="49140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75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type="title"/>
          </p:nvPr>
        </p:nvSpPr>
        <p:spPr>
          <a:xfrm>
            <a:off x="533400" y="400050"/>
            <a:ext cx="7620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omfortaa"/>
              <a:buChar char="●"/>
              <a:defRPr b="1" sz="3600">
                <a:latin typeface="Comfortaa"/>
                <a:ea typeface="Comfortaa"/>
                <a:cs typeface="Comfortaa"/>
                <a:sym typeface="Comfortaa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81000" y="971550"/>
            <a:ext cx="84423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indent="-4191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Char char="–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indent="-4191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indent="-4191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Char char="–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indent="-419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Char char="»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indent="-419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Char char="»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indent="-419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Char char="»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indent="-419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Char char="»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indent="-419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"/>
              <a:buChar char="»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7587375" y="4800600"/>
            <a:ext cx="12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6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ctrTitle"/>
          </p:nvPr>
        </p:nvSpPr>
        <p:spPr>
          <a:xfrm>
            <a:off x="533400" y="277416"/>
            <a:ext cx="81534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b="1"/>
            </a:lvl1pPr>
            <a:lvl2pPr lvl="1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70104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179513" y="303498"/>
            <a:ext cx="582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1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</a:defRPr>
            </a:lvl1pPr>
            <a:lvl2pPr lvl="1">
              <a:buNone/>
              <a:defRPr sz="1300">
                <a:solidFill>
                  <a:srgbClr val="000000"/>
                </a:solidFill>
              </a:defRPr>
            </a:lvl2pPr>
            <a:lvl3pPr lvl="2">
              <a:buNone/>
              <a:defRPr sz="1300">
                <a:solidFill>
                  <a:srgbClr val="000000"/>
                </a:solidFill>
              </a:defRPr>
            </a:lvl3pPr>
            <a:lvl4pPr lvl="3">
              <a:buNone/>
              <a:defRPr sz="1300">
                <a:solidFill>
                  <a:srgbClr val="000000"/>
                </a:solidFill>
              </a:defRPr>
            </a:lvl4pPr>
            <a:lvl5pPr lvl="4">
              <a:buNone/>
              <a:defRPr sz="1300">
                <a:solidFill>
                  <a:srgbClr val="000000"/>
                </a:solidFill>
              </a:defRPr>
            </a:lvl5pPr>
            <a:lvl6pPr lvl="5">
              <a:buNone/>
              <a:defRPr sz="1300">
                <a:solidFill>
                  <a:srgbClr val="000000"/>
                </a:solidFill>
              </a:defRPr>
            </a:lvl6pPr>
            <a:lvl7pPr lvl="6">
              <a:buNone/>
              <a:defRPr sz="1300">
                <a:solidFill>
                  <a:srgbClr val="000000"/>
                </a:solidFill>
              </a:defRPr>
            </a:lvl7pPr>
            <a:lvl8pPr lvl="7">
              <a:buNone/>
              <a:defRPr sz="1300">
                <a:solidFill>
                  <a:srgbClr val="000000"/>
                </a:solidFill>
              </a:defRPr>
            </a:lvl8pPr>
            <a:lvl9pPr lvl="8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179513" y="303498"/>
            <a:ext cx="582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1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</a:defRPr>
            </a:lvl1pPr>
            <a:lvl2pPr lvl="1">
              <a:buNone/>
              <a:defRPr sz="1300">
                <a:solidFill>
                  <a:srgbClr val="000000"/>
                </a:solidFill>
              </a:defRPr>
            </a:lvl2pPr>
            <a:lvl3pPr lvl="2">
              <a:buNone/>
              <a:defRPr sz="1300">
                <a:solidFill>
                  <a:srgbClr val="000000"/>
                </a:solidFill>
              </a:defRPr>
            </a:lvl3pPr>
            <a:lvl4pPr lvl="3">
              <a:buNone/>
              <a:defRPr sz="1300">
                <a:solidFill>
                  <a:srgbClr val="000000"/>
                </a:solidFill>
              </a:defRPr>
            </a:lvl4pPr>
            <a:lvl5pPr lvl="4">
              <a:buNone/>
              <a:defRPr sz="1300">
                <a:solidFill>
                  <a:srgbClr val="000000"/>
                </a:solidFill>
              </a:defRPr>
            </a:lvl5pPr>
            <a:lvl6pPr lvl="5">
              <a:buNone/>
              <a:defRPr sz="1300">
                <a:solidFill>
                  <a:srgbClr val="000000"/>
                </a:solidFill>
              </a:defRPr>
            </a:lvl6pPr>
            <a:lvl7pPr lvl="6">
              <a:buNone/>
              <a:defRPr sz="1300">
                <a:solidFill>
                  <a:srgbClr val="000000"/>
                </a:solidFill>
              </a:defRPr>
            </a:lvl7pPr>
            <a:lvl8pPr lvl="7">
              <a:buNone/>
              <a:defRPr sz="1300">
                <a:solidFill>
                  <a:srgbClr val="000000"/>
                </a:solidFill>
              </a:defRPr>
            </a:lvl8pPr>
            <a:lvl9pPr lvl="8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179513" y="303498"/>
            <a:ext cx="582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1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12" name="Google Shape;11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</a:defRPr>
            </a:lvl1pPr>
            <a:lvl2pPr lvl="1">
              <a:buNone/>
              <a:defRPr sz="1300">
                <a:solidFill>
                  <a:srgbClr val="000000"/>
                </a:solidFill>
              </a:defRPr>
            </a:lvl2pPr>
            <a:lvl3pPr lvl="2">
              <a:buNone/>
              <a:defRPr sz="1300">
                <a:solidFill>
                  <a:srgbClr val="000000"/>
                </a:solidFill>
              </a:defRPr>
            </a:lvl3pPr>
            <a:lvl4pPr lvl="3">
              <a:buNone/>
              <a:defRPr sz="1300">
                <a:solidFill>
                  <a:srgbClr val="000000"/>
                </a:solidFill>
              </a:defRPr>
            </a:lvl4pPr>
            <a:lvl5pPr lvl="4">
              <a:buNone/>
              <a:defRPr sz="1300">
                <a:solidFill>
                  <a:srgbClr val="000000"/>
                </a:solidFill>
              </a:defRPr>
            </a:lvl5pPr>
            <a:lvl6pPr lvl="5">
              <a:buNone/>
              <a:defRPr sz="1300">
                <a:solidFill>
                  <a:srgbClr val="000000"/>
                </a:solidFill>
              </a:defRPr>
            </a:lvl6pPr>
            <a:lvl7pPr lvl="6">
              <a:buNone/>
              <a:defRPr sz="1300">
                <a:solidFill>
                  <a:srgbClr val="000000"/>
                </a:solidFill>
              </a:defRPr>
            </a:lvl7pPr>
            <a:lvl8pPr lvl="7">
              <a:buNone/>
              <a:defRPr sz="1300">
                <a:solidFill>
                  <a:srgbClr val="000000"/>
                </a:solidFill>
              </a:defRPr>
            </a:lvl8pPr>
            <a:lvl9pPr lvl="8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and Content">
  <p:cSld name="6_Title and Conte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179513" y="303498"/>
            <a:ext cx="582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1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15" name="Google Shape;11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</a:defRPr>
            </a:lvl1pPr>
            <a:lvl2pPr lvl="1">
              <a:buNone/>
              <a:defRPr sz="1300">
                <a:solidFill>
                  <a:srgbClr val="000000"/>
                </a:solidFill>
              </a:defRPr>
            </a:lvl2pPr>
            <a:lvl3pPr lvl="2">
              <a:buNone/>
              <a:defRPr sz="1300">
                <a:solidFill>
                  <a:srgbClr val="000000"/>
                </a:solidFill>
              </a:defRPr>
            </a:lvl3pPr>
            <a:lvl4pPr lvl="3">
              <a:buNone/>
              <a:defRPr sz="1300">
                <a:solidFill>
                  <a:srgbClr val="000000"/>
                </a:solidFill>
              </a:defRPr>
            </a:lvl4pPr>
            <a:lvl5pPr lvl="4">
              <a:buNone/>
              <a:defRPr sz="1300">
                <a:solidFill>
                  <a:srgbClr val="000000"/>
                </a:solidFill>
              </a:defRPr>
            </a:lvl5pPr>
            <a:lvl6pPr lvl="5">
              <a:buNone/>
              <a:defRPr sz="1300">
                <a:solidFill>
                  <a:srgbClr val="000000"/>
                </a:solidFill>
              </a:defRPr>
            </a:lvl6pPr>
            <a:lvl7pPr lvl="6">
              <a:buNone/>
              <a:defRPr sz="1300">
                <a:solidFill>
                  <a:srgbClr val="000000"/>
                </a:solidFill>
              </a:defRPr>
            </a:lvl7pPr>
            <a:lvl8pPr lvl="7">
              <a:buNone/>
              <a:defRPr sz="1300">
                <a:solidFill>
                  <a:srgbClr val="000000"/>
                </a:solidFill>
              </a:defRPr>
            </a:lvl8pPr>
            <a:lvl9pPr lvl="8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and Content">
  <p:cSld name="9_Title and Conte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/>
          <p:nvPr>
            <p:ph type="title"/>
          </p:nvPr>
        </p:nvSpPr>
        <p:spPr>
          <a:xfrm>
            <a:off x="179513" y="303498"/>
            <a:ext cx="582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1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18" name="Google Shape;11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</a:defRPr>
            </a:lvl1pPr>
            <a:lvl2pPr lvl="1">
              <a:buNone/>
              <a:defRPr sz="1300">
                <a:solidFill>
                  <a:srgbClr val="000000"/>
                </a:solidFill>
              </a:defRPr>
            </a:lvl2pPr>
            <a:lvl3pPr lvl="2">
              <a:buNone/>
              <a:defRPr sz="1300">
                <a:solidFill>
                  <a:srgbClr val="000000"/>
                </a:solidFill>
              </a:defRPr>
            </a:lvl3pPr>
            <a:lvl4pPr lvl="3">
              <a:buNone/>
              <a:defRPr sz="1300">
                <a:solidFill>
                  <a:srgbClr val="000000"/>
                </a:solidFill>
              </a:defRPr>
            </a:lvl4pPr>
            <a:lvl5pPr lvl="4">
              <a:buNone/>
              <a:defRPr sz="1300">
                <a:solidFill>
                  <a:srgbClr val="000000"/>
                </a:solidFill>
              </a:defRPr>
            </a:lvl5pPr>
            <a:lvl6pPr lvl="5">
              <a:buNone/>
              <a:defRPr sz="1300">
                <a:solidFill>
                  <a:srgbClr val="000000"/>
                </a:solidFill>
              </a:defRPr>
            </a:lvl6pPr>
            <a:lvl7pPr lvl="6">
              <a:buNone/>
              <a:defRPr sz="1300">
                <a:solidFill>
                  <a:srgbClr val="000000"/>
                </a:solidFill>
              </a:defRPr>
            </a:lvl7pPr>
            <a:lvl8pPr lvl="7">
              <a:buNone/>
              <a:defRPr sz="1300">
                <a:solidFill>
                  <a:srgbClr val="000000"/>
                </a:solidFill>
              </a:defRPr>
            </a:lvl8pPr>
            <a:lvl9pPr lvl="8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and Content">
  <p:cSld name="10_Title and Conte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0"/>
          <p:cNvSpPr txBox="1"/>
          <p:nvPr>
            <p:ph type="title"/>
          </p:nvPr>
        </p:nvSpPr>
        <p:spPr>
          <a:xfrm>
            <a:off x="179513" y="303498"/>
            <a:ext cx="582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1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21" name="Google Shape;12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</a:defRPr>
            </a:lvl1pPr>
            <a:lvl2pPr lvl="1">
              <a:buNone/>
              <a:defRPr sz="1300">
                <a:solidFill>
                  <a:srgbClr val="000000"/>
                </a:solidFill>
              </a:defRPr>
            </a:lvl2pPr>
            <a:lvl3pPr lvl="2">
              <a:buNone/>
              <a:defRPr sz="1300">
                <a:solidFill>
                  <a:srgbClr val="000000"/>
                </a:solidFill>
              </a:defRPr>
            </a:lvl3pPr>
            <a:lvl4pPr lvl="3">
              <a:buNone/>
              <a:defRPr sz="1300">
                <a:solidFill>
                  <a:srgbClr val="000000"/>
                </a:solidFill>
              </a:defRPr>
            </a:lvl4pPr>
            <a:lvl5pPr lvl="4">
              <a:buNone/>
              <a:defRPr sz="1300">
                <a:solidFill>
                  <a:srgbClr val="000000"/>
                </a:solidFill>
              </a:defRPr>
            </a:lvl5pPr>
            <a:lvl6pPr lvl="5">
              <a:buNone/>
              <a:defRPr sz="1300">
                <a:solidFill>
                  <a:srgbClr val="000000"/>
                </a:solidFill>
              </a:defRPr>
            </a:lvl6pPr>
            <a:lvl7pPr lvl="6">
              <a:buNone/>
              <a:defRPr sz="1300">
                <a:solidFill>
                  <a:srgbClr val="000000"/>
                </a:solidFill>
              </a:defRPr>
            </a:lvl7pPr>
            <a:lvl8pPr lvl="7">
              <a:buNone/>
              <a:defRPr sz="1300">
                <a:solidFill>
                  <a:srgbClr val="000000"/>
                </a:solidFill>
              </a:defRPr>
            </a:lvl8pPr>
            <a:lvl9pPr lvl="8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and Content">
  <p:cSld name="11_Title and Conte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 txBox="1"/>
          <p:nvPr>
            <p:ph type="title"/>
          </p:nvPr>
        </p:nvSpPr>
        <p:spPr>
          <a:xfrm>
            <a:off x="179513" y="303498"/>
            <a:ext cx="582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19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indent="0" lvl="5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indent="0" lvl="6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indent="0" lvl="7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indent="0" lvl="8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124" name="Google Shape;12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</a:defRPr>
            </a:lvl1pPr>
            <a:lvl2pPr lvl="1">
              <a:buNone/>
              <a:defRPr sz="1300">
                <a:solidFill>
                  <a:srgbClr val="000000"/>
                </a:solidFill>
              </a:defRPr>
            </a:lvl2pPr>
            <a:lvl3pPr lvl="2">
              <a:buNone/>
              <a:defRPr sz="1300">
                <a:solidFill>
                  <a:srgbClr val="000000"/>
                </a:solidFill>
              </a:defRPr>
            </a:lvl3pPr>
            <a:lvl4pPr lvl="3">
              <a:buNone/>
              <a:defRPr sz="1300">
                <a:solidFill>
                  <a:srgbClr val="000000"/>
                </a:solidFill>
              </a:defRPr>
            </a:lvl4pPr>
            <a:lvl5pPr lvl="4">
              <a:buNone/>
              <a:defRPr sz="1300">
                <a:solidFill>
                  <a:srgbClr val="000000"/>
                </a:solidFill>
              </a:defRPr>
            </a:lvl5pPr>
            <a:lvl6pPr lvl="5">
              <a:buNone/>
              <a:defRPr sz="1300">
                <a:solidFill>
                  <a:srgbClr val="000000"/>
                </a:solidFill>
              </a:defRPr>
            </a:lvl6pPr>
            <a:lvl7pPr lvl="6">
              <a:buNone/>
              <a:defRPr sz="1300">
                <a:solidFill>
                  <a:srgbClr val="000000"/>
                </a:solidFill>
              </a:defRPr>
            </a:lvl7pPr>
            <a:lvl8pPr lvl="7">
              <a:buNone/>
              <a:defRPr sz="1300">
                <a:solidFill>
                  <a:srgbClr val="000000"/>
                </a:solidFill>
              </a:defRPr>
            </a:lvl8pPr>
            <a:lvl9pPr lvl="8"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 showMasterSp="0">
  <p:cSld name="TITLE_4"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7" name="Google Shape;127;p3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3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3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34"/>
          <p:cNvSpPr txBox="1"/>
          <p:nvPr/>
        </p:nvSpPr>
        <p:spPr>
          <a:xfrm>
            <a:off x="0" y="4836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This material belongs to Tertiary Infotech Academy Pte Ltd (UEN: 20120096W). All Rights Reserved</a:t>
            </a:r>
            <a:endParaRPr sz="90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4 points" type="tx">
  <p:cSld name="TITLE_AND_BOD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8 points">
  <p:cSld name="TITLE_AND_BODY_2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46" name="Google Shape;14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8 points">
  <p:cSld name="TITLE_AND_BODY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50" name="Google Shape;15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TITLE_AND_BODY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8"/>
          <p:cNvSpPr txBox="1"/>
          <p:nvPr>
            <p:ph type="title"/>
          </p:nvPr>
        </p:nvSpPr>
        <p:spPr>
          <a:xfrm>
            <a:off x="0" y="0"/>
            <a:ext cx="9144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8"/>
          <p:cNvSpPr txBox="1"/>
          <p:nvPr>
            <p:ph idx="1" type="body"/>
          </p:nvPr>
        </p:nvSpPr>
        <p:spPr>
          <a:xfrm>
            <a:off x="5565600" y="3113125"/>
            <a:ext cx="3578400" cy="17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indent="-3302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pic>
        <p:nvPicPr>
          <p:cNvPr id="154" name="Google Shape;154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4925" y="2782900"/>
            <a:ext cx="2441400" cy="11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8" title="Infotech Academ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25" y="3814175"/>
            <a:ext cx="4126656" cy="10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Title" type="secHead">
  <p:cSld name="SECTION_HEAD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39"/>
          <p:cNvSpPr txBox="1"/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0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" name="Google Shape;161;p40"/>
          <p:cNvSpPr txBox="1"/>
          <p:nvPr>
            <p:ph idx="1" type="body"/>
          </p:nvPr>
        </p:nvSpPr>
        <p:spPr>
          <a:xfrm>
            <a:off x="24965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62" name="Google Shape;162;p40"/>
          <p:cNvSpPr txBox="1"/>
          <p:nvPr>
            <p:ph idx="2" type="body"/>
          </p:nvPr>
        </p:nvSpPr>
        <p:spPr>
          <a:xfrm>
            <a:off x="482570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63" name="Google Shape;16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eft column">
  <p:cSld name="TITLE_AND_TWO_COLUMNS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1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41"/>
          <p:cNvSpPr txBox="1"/>
          <p:nvPr>
            <p:ph idx="1" type="body"/>
          </p:nvPr>
        </p:nvSpPr>
        <p:spPr>
          <a:xfrm>
            <a:off x="249650" y="775625"/>
            <a:ext cx="49755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column">
  <p:cSld name="TITLE_AND_TWO_COLUMNS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42"/>
          <p:cNvSpPr txBox="1"/>
          <p:nvPr>
            <p:ph idx="1" type="body"/>
          </p:nvPr>
        </p:nvSpPr>
        <p:spPr>
          <a:xfrm>
            <a:off x="4051250" y="775625"/>
            <a:ext cx="48804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3"/>
          <p:cNvSpPr txBox="1"/>
          <p:nvPr>
            <p:ph type="title"/>
          </p:nvPr>
        </p:nvSpPr>
        <p:spPr>
          <a:xfrm>
            <a:off x="75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4" name="Google Shape;17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/>
          <p:nvPr>
            <p:ph type="ctrTitle"/>
          </p:nvPr>
        </p:nvSpPr>
        <p:spPr>
          <a:xfrm>
            <a:off x="533400" y="277416"/>
            <a:ext cx="81534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44"/>
          <p:cNvSpPr txBox="1"/>
          <p:nvPr>
            <p:ph idx="1" type="subTitle"/>
          </p:nvPr>
        </p:nvSpPr>
        <p:spPr>
          <a:xfrm>
            <a:off x="0" y="971550"/>
            <a:ext cx="7620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indent="-260350" lvl="1" marL="74295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/>
            </a:lvl2pPr>
            <a:lvl3pPr indent="-228600" lvl="2" marL="11430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/>
            </a:lvl3pPr>
            <a:lvl4pPr indent="-254000" lvl="3" marL="1600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/>
            </a:lvl4pPr>
            <a:lvl5pPr indent="-254000" lvl="4" marL="2057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5pPr>
            <a:lvl6pPr indent="-254000" lvl="5" marL="2514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6pPr>
            <a:lvl7pPr indent="-254000" lvl="6" marL="2971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7pPr>
            <a:lvl8pPr indent="-254000" lvl="7" marL="3429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8pPr>
            <a:lvl9pPr indent="-254000" lvl="8" marL="3886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9pPr>
          </a:lstStyle>
          <a:p/>
        </p:txBody>
      </p:sp>
      <p:sp>
        <p:nvSpPr>
          <p:cNvPr id="178" name="Google Shape;178;p44"/>
          <p:cNvSpPr txBox="1"/>
          <p:nvPr>
            <p:ph idx="10" type="dt"/>
          </p:nvPr>
        </p:nvSpPr>
        <p:spPr>
          <a:xfrm>
            <a:off x="228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44"/>
          <p:cNvSpPr txBox="1"/>
          <p:nvPr>
            <p:ph idx="11" type="ftr"/>
          </p:nvPr>
        </p:nvSpPr>
        <p:spPr>
          <a:xfrm>
            <a:off x="2362200" y="4686300"/>
            <a:ext cx="434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44"/>
          <p:cNvSpPr txBox="1"/>
          <p:nvPr>
            <p:ph idx="12" type="sldNum"/>
          </p:nvPr>
        </p:nvSpPr>
        <p:spPr>
          <a:xfrm>
            <a:off x="70104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5"/>
          <p:cNvSpPr txBox="1"/>
          <p:nvPr>
            <p:ph type="title"/>
          </p:nvPr>
        </p:nvSpPr>
        <p:spPr>
          <a:xfrm>
            <a:off x="0" y="400050"/>
            <a:ext cx="9144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>
                <a:solidFill>
                  <a:srgbClr val="000000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45"/>
          <p:cNvSpPr txBox="1"/>
          <p:nvPr>
            <p:ph idx="1" type="body"/>
          </p:nvPr>
        </p:nvSpPr>
        <p:spPr>
          <a:xfrm>
            <a:off x="381000" y="971550"/>
            <a:ext cx="77724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/>
            </a:lvl1pPr>
            <a:lvl2pPr indent="-3810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/>
            </a:lvl3pPr>
            <a:lvl4pPr indent="-3810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/>
            </a:lvl4pPr>
            <a:lvl5pPr indent="-3810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5pPr>
            <a:lvl6pPr indent="-3810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6pPr>
            <a:lvl7pPr indent="-3810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7pPr>
            <a:lvl8pPr indent="-3810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8pPr>
            <a:lvl9pPr indent="-3810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/>
            </a:lvl9pPr>
          </a:lstStyle>
          <a:p/>
        </p:txBody>
      </p:sp>
      <p:sp>
        <p:nvSpPr>
          <p:cNvPr id="184" name="Google Shape;184;p45"/>
          <p:cNvSpPr txBox="1"/>
          <p:nvPr>
            <p:ph idx="10" type="dt"/>
          </p:nvPr>
        </p:nvSpPr>
        <p:spPr>
          <a:xfrm>
            <a:off x="2133600" y="4800600"/>
            <a:ext cx="12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5" name="Google Shape;185;p45"/>
          <p:cNvSpPr txBox="1"/>
          <p:nvPr>
            <p:ph idx="11" type="ftr"/>
          </p:nvPr>
        </p:nvSpPr>
        <p:spPr>
          <a:xfrm>
            <a:off x="3657600" y="48006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6" name="Google Shape;186;p45"/>
          <p:cNvSpPr txBox="1"/>
          <p:nvPr>
            <p:ph idx="12" type="sldNum"/>
          </p:nvPr>
        </p:nvSpPr>
        <p:spPr>
          <a:xfrm>
            <a:off x="6858000" y="4800600"/>
            <a:ext cx="12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/>
          <p:nvPr>
            <p:ph type="ctrTitle"/>
          </p:nvPr>
        </p:nvSpPr>
        <p:spPr>
          <a:xfrm>
            <a:off x="533400" y="277416"/>
            <a:ext cx="81534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indent="0" lvl="5" marL="4572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indent="0" lvl="6" marL="9144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indent="0" lvl="7" marL="13716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indent="0" lvl="8" marL="182880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" name="Google Shape;189;p46"/>
          <p:cNvSpPr txBox="1"/>
          <p:nvPr>
            <p:ph idx="12" type="sldNum"/>
          </p:nvPr>
        </p:nvSpPr>
        <p:spPr>
          <a:xfrm>
            <a:off x="70104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7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47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/>
            </a:lvl9pPr>
          </a:lstStyle>
          <a:p/>
        </p:txBody>
      </p:sp>
      <p:sp>
        <p:nvSpPr>
          <p:cNvPr id="193" name="Google Shape;193;p47"/>
          <p:cNvSpPr txBox="1"/>
          <p:nvPr>
            <p:ph idx="10" type="dt"/>
          </p:nvPr>
        </p:nvSpPr>
        <p:spPr>
          <a:xfrm>
            <a:off x="2133600" y="4800600"/>
            <a:ext cx="12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" name="Google Shape;194;p47"/>
          <p:cNvSpPr txBox="1"/>
          <p:nvPr>
            <p:ph idx="11" type="ftr"/>
          </p:nvPr>
        </p:nvSpPr>
        <p:spPr>
          <a:xfrm>
            <a:off x="3657600" y="48006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5" name="Google Shape;195;p47"/>
          <p:cNvSpPr txBox="1"/>
          <p:nvPr>
            <p:ph idx="12" type="sldNum"/>
          </p:nvPr>
        </p:nvSpPr>
        <p:spPr>
          <a:xfrm>
            <a:off x="6858000" y="4800600"/>
            <a:ext cx="129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21" Type="http://schemas.openxmlformats.org/officeDocument/2006/relationships/theme" Target="../theme/theme3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0978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i="0" sz="3600" u="none" cap="none" strike="noStrike">
                <a:solidFill>
                  <a:schemeClr val="dk1"/>
                </a:solidFill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9350" y="688375"/>
            <a:ext cx="8891700" cy="4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4836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This material belongs to Tertiary Infotech Pte Ltd (UEN: 20120096W). All Rights Reserved</a:t>
            </a:r>
            <a:endParaRPr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0" y="0"/>
            <a:ext cx="90978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i="0" sz="3600" u="none" cap="none" strike="noStrike">
                <a:solidFill>
                  <a:schemeClr val="dk1"/>
                </a:solidFill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129350" y="688375"/>
            <a:ext cx="8891700" cy="4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  <a:defRPr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i="0" sz="2400" u="none" cap="none" strike="noStrike">
                <a:solidFill>
                  <a:schemeClr val="dk2"/>
                </a:solidFill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i="0" sz="2400" u="none" cap="none" strike="noStrike">
                <a:solidFill>
                  <a:schemeClr val="dk2"/>
                </a:solidFill>
              </a:defRPr>
            </a:lvl3pPr>
            <a:lvl4pPr indent="-3810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2"/>
          <p:cNvSpPr txBox="1"/>
          <p:nvPr/>
        </p:nvSpPr>
        <p:spPr>
          <a:xfrm>
            <a:off x="0" y="4836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This material belongs to Tertiary Infotech Academy Pte Ltd (UEN: 20120096W). All Rights Reserved</a:t>
            </a:r>
            <a:endParaRPr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/>
          <p:nvPr>
            <p:ph type="title"/>
          </p:nvPr>
        </p:nvSpPr>
        <p:spPr>
          <a:xfrm>
            <a:off x="0" y="0"/>
            <a:ext cx="90978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i="0" sz="3600" u="none" cap="none" strike="noStrike">
                <a:solidFill>
                  <a:schemeClr val="dk1"/>
                </a:solidFill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33"/>
          <p:cNvSpPr txBox="1"/>
          <p:nvPr>
            <p:ph idx="1" type="body"/>
          </p:nvPr>
        </p:nvSpPr>
        <p:spPr>
          <a:xfrm>
            <a:off x="129350" y="688375"/>
            <a:ext cx="8891700" cy="4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33"/>
          <p:cNvSpPr txBox="1"/>
          <p:nvPr/>
        </p:nvSpPr>
        <p:spPr>
          <a:xfrm>
            <a:off x="0" y="4836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This material belongs to Tertiary Infotech Academy Pte Ltd (UEN: 20120096W). All Rights Reserved</a:t>
            </a:r>
            <a:endParaRPr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lassroom.google.com/c/NjE1NDA5ODMyMTc4?cjc=2z4ctbb" TargetMode="External"/><Relationship Id="rId4" Type="http://schemas.openxmlformats.org/officeDocument/2006/relationships/hyperlink" Target="https://classroom.google.co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sgtraqom.qualtrics.com/jfe/form/SV_3K9i7rTJ9OLsauW?Q_CHL=qr" TargetMode="External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oo.gl/R2eumq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tertiarycourses.com.sg/wsq-python-beginner-course.html" TargetMode="External"/><Relationship Id="rId4" Type="http://schemas.openxmlformats.org/officeDocument/2006/relationships/hyperlink" Target="https://www.tertiarycourses.com.sg/wsq-python-intermediate-level-course.html" TargetMode="External"/><Relationship Id="rId5" Type="http://schemas.openxmlformats.org/officeDocument/2006/relationships/hyperlink" Target="https://www.tertiarycourses.com.sg/wsq-deep-learning-tensorflow-keras.html" TargetMode="External"/><Relationship Id="rId6" Type="http://schemas.openxmlformats.org/officeDocument/2006/relationships/hyperlink" Target="https://www.tertiarycourses.com.sg/wsq-reinforcement-learning-course.html" TargetMode="External"/><Relationship Id="rId7" Type="http://schemas.openxmlformats.org/officeDocument/2006/relationships/hyperlink" Target="https://www.tertiarycourses.com.sg/wsq-generative-adversarial-network-gan-course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mailto:enquiry@tertiaryinfotech.com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8"/>
          <p:cNvSpPr txBox="1"/>
          <p:nvPr>
            <p:ph type="title"/>
          </p:nvPr>
        </p:nvSpPr>
        <p:spPr>
          <a:xfrm>
            <a:off x="0" y="0"/>
            <a:ext cx="9144000" cy="10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Title</a:t>
            </a:r>
            <a:endParaRPr sz="4200"/>
          </a:p>
        </p:txBody>
      </p:sp>
      <p:sp>
        <p:nvSpPr>
          <p:cNvPr id="201" name="Google Shape;201;p48"/>
          <p:cNvSpPr txBox="1"/>
          <p:nvPr>
            <p:ph idx="1" type="body"/>
          </p:nvPr>
        </p:nvSpPr>
        <p:spPr>
          <a:xfrm>
            <a:off x="5565600" y="3113125"/>
            <a:ext cx="3578400" cy="177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Version: 10.0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Trainer: </a:t>
            </a:r>
            <a:r>
              <a:rPr lang="en">
                <a:highlight>
                  <a:srgbClr val="FFFF00"/>
                </a:highlight>
              </a:rPr>
              <a:t>________________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Code: TGS-2024045797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Website: www.tertiarycourses.com.sg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Email: enquiry@tertiaryinfotech.com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Tel: +65 6100 0613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9"/>
          <p:cNvSpPr txBox="1"/>
          <p:nvPr>
            <p:ph idx="1" type="body"/>
          </p:nvPr>
        </p:nvSpPr>
        <p:spPr>
          <a:xfrm>
            <a:off x="151275" y="642650"/>
            <a:ext cx="8730000" cy="4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It is </a:t>
            </a:r>
            <a:r>
              <a:rPr b="1" lang="en" u="sng">
                <a:solidFill>
                  <a:srgbClr val="FF0000"/>
                </a:solidFill>
              </a:rPr>
              <a:t>mandatory</a:t>
            </a:r>
            <a:r>
              <a:rPr lang="en">
                <a:solidFill>
                  <a:schemeClr val="dk1"/>
                </a:solidFill>
              </a:rPr>
              <a:t> for you to take both AM</a:t>
            </a:r>
            <a:r>
              <a:rPr lang="en"/>
              <a:t>, </a:t>
            </a:r>
            <a:r>
              <a:rPr lang="en">
                <a:solidFill>
                  <a:schemeClr val="dk1"/>
                </a:solidFill>
              </a:rPr>
              <a:t>PM and Assessment digital attendance for WSQ funded courses.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The trainer or administrator will show you the digital attendance QR code generated from </a:t>
            </a:r>
            <a:r>
              <a:rPr lang="en"/>
              <a:t>SSG portal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fortaa"/>
              <a:buChar char="●"/>
            </a:pPr>
            <a:r>
              <a:rPr lang="en">
                <a:solidFill>
                  <a:schemeClr val="dk1"/>
                </a:solidFill>
              </a:rPr>
              <a:t>Please scan the QR code from </a:t>
            </a:r>
            <a:r>
              <a:rPr b="1" lang="en" u="sng">
                <a:solidFill>
                  <a:srgbClr val="FF0000"/>
                </a:solidFill>
              </a:rPr>
              <a:t>your mobile phone camera</a:t>
            </a:r>
            <a:r>
              <a:rPr lang="en">
                <a:solidFill>
                  <a:schemeClr val="dk1"/>
                </a:solidFill>
              </a:rPr>
              <a:t> and submit your attendance.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p4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Attendance</a:t>
            </a:r>
            <a:endParaRPr/>
          </a:p>
        </p:txBody>
      </p:sp>
      <p:sp>
        <p:nvSpPr>
          <p:cNvPr id="208" name="Google Shape;20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Trainer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700" y="685950"/>
            <a:ext cx="7802604" cy="445755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1"/>
          <p:cNvSpPr txBox="1"/>
          <p:nvPr>
            <p:ph type="title"/>
          </p:nvPr>
        </p:nvSpPr>
        <p:spPr>
          <a:xfrm>
            <a:off x="75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Know Each Other...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2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Set your mobile phone to silent mode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Actively participate in the class. No question is stupid.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Respect each other view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Exit the class silently if you need to step out for phone call, toilet break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26" name="Google Shape;22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5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Rules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Plan</a:t>
            </a:r>
            <a:endParaRPr i="0" sz="3600" u="none" cap="none" strike="noStrike"/>
          </a:p>
        </p:txBody>
      </p:sp>
      <p:sp>
        <p:nvSpPr>
          <p:cNvPr id="233" name="Google Shape;233;p53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Day 1 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en" sz="2400">
                <a:solidFill>
                  <a:srgbClr val="FF0000"/>
                </a:solidFill>
              </a:rPr>
              <a:t>Digital Attendance (AM)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Trainer and Learners Introduction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Learning Outcomes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Course Outline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Topic 1: Introduction to Quantum Computing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Lunch Break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en" sz="2400">
                <a:solidFill>
                  <a:srgbClr val="FF0000"/>
                </a:solidFill>
              </a:rPr>
              <a:t>Digital Attendance (PM)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Topic 2: Quantum States and Gates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End of Day 1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34" name="Google Shape;23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Plan</a:t>
            </a:r>
            <a:endParaRPr i="0" sz="3600" u="none" cap="none" strike="noStrike"/>
          </a:p>
        </p:txBody>
      </p:sp>
      <p:sp>
        <p:nvSpPr>
          <p:cNvPr id="240" name="Google Shape;240;p54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Day 2 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en" sz="2400">
                <a:solidFill>
                  <a:srgbClr val="FF0000"/>
                </a:solidFill>
              </a:rPr>
              <a:t>Digital Attendance (AM)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Topic 3: Quantum Algorithms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Lunch Break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en" sz="2400">
                <a:solidFill>
                  <a:srgbClr val="FF0000"/>
                </a:solidFill>
              </a:rPr>
              <a:t>Digital Attendance (PM)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Topic 4: Quantum Computing Applications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>
                <a:solidFill>
                  <a:srgbClr val="FF0000"/>
                </a:solidFill>
              </a:rPr>
              <a:t>Course Feedback and TRAQOM Survey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>
                <a:solidFill>
                  <a:srgbClr val="FF0000"/>
                </a:solidFill>
              </a:rPr>
              <a:t>Digital Attendance (Assessment)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Final Assessment </a:t>
            </a:r>
            <a:endParaRPr b="1">
              <a:solidFill>
                <a:srgbClr val="FF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End of Class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41" name="Google Shape;24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5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TSC Title:  Computational Modelling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TSC Code: </a:t>
            </a:r>
            <a:r>
              <a:rPr lang="en" sz="2400">
                <a:solidFill>
                  <a:schemeClr val="dk1"/>
                </a:solidFill>
              </a:rPr>
              <a:t>ICT-DIT-3001-1.1</a:t>
            </a:r>
            <a:endParaRPr sz="2400"/>
          </a:p>
        </p:txBody>
      </p:sp>
      <p:sp>
        <p:nvSpPr>
          <p:cNvPr id="247" name="Google Shape;24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248" name="Google Shape;248;p55"/>
          <p:cNvSpPr txBox="1"/>
          <p:nvPr/>
        </p:nvSpPr>
        <p:spPr>
          <a:xfrm>
            <a:off x="0" y="76194"/>
            <a:ext cx="9144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Skills Framework</a:t>
            </a:r>
            <a:endParaRPr b="1" sz="3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6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TSC Abilities: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A1: Identify appropriate statistical algorithms and data models to test hypotheses or theories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A2: Use appropriate analytics platforms and analytical tools given specific analytics and reporting requirements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A3: Utilise a range of statistical methods and analytics approaches to data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A4: Conduct statistical modelling of data to derive patterns and/or solutions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A5: Perform coding and configuration of software agents or programs based on a selected model or algorithm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A6: Conduct tests on the actions taken and outcomes to assess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A7: Diagnose unintended outcomes produced by analytical models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A8: Propose changes or updates to the model or algorithms applied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A9: Implement changes to the coding and configuration of software agents or programs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A10: Draw relevant trends and insights from data analysis to support decisions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t/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TSC Knowledge: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K1: Types of algorithms and advanced computational methods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K2: Range and application of various statistical algorithms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K3: Range and application of various types of data models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K4: Usage of analytics platforms and tools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K5: Statistical modelling techniques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K6: Coding languages for programming of algorithms and signals</a:t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K7: Potential reasons for unintended outcomes</a:t>
            </a:r>
            <a:endParaRPr sz="1550"/>
          </a:p>
        </p:txBody>
      </p:sp>
      <p:sp>
        <p:nvSpPr>
          <p:cNvPr id="254" name="Google Shape;25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255" name="Google Shape;255;p56"/>
          <p:cNvSpPr txBox="1"/>
          <p:nvPr/>
        </p:nvSpPr>
        <p:spPr>
          <a:xfrm>
            <a:off x="0" y="76194"/>
            <a:ext cx="9144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Skills Framework TSC</a:t>
            </a:r>
            <a:endParaRPr b="1" sz="3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Outcomes</a:t>
            </a:r>
            <a:endParaRPr i="0" sz="3600" u="none" cap="none" strike="noStrike"/>
          </a:p>
        </p:txBody>
      </p:sp>
      <p:sp>
        <p:nvSpPr>
          <p:cNvPr id="261" name="Google Shape;261;p57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LO1: </a:t>
            </a:r>
            <a:r>
              <a:rPr lang="en" sz="2400"/>
              <a:t>Identify and use appropriate quantum computing platforms for testing quantum gates and algorithms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LO2: U</a:t>
            </a:r>
            <a:r>
              <a:rPr lang="en" sz="2400"/>
              <a:t>tilise and conduct quantum gates and logic to derive solutions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LO3: P</a:t>
            </a:r>
            <a:r>
              <a:rPr lang="en" sz="2400"/>
              <a:t>erform coding and conduct testing of quantum algorithms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LO4: D</a:t>
            </a:r>
            <a:r>
              <a:rPr lang="en" sz="2400"/>
              <a:t>iagnose outcomes, propose, and implement changes for quantum computing applications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Course Outline</a:t>
            </a:r>
            <a:endParaRPr i="0" sz="3600" u="none" cap="none" strike="noStrike"/>
          </a:p>
        </p:txBody>
      </p:sp>
      <p:sp>
        <p:nvSpPr>
          <p:cNvPr id="267" name="Google Shape;267;p58"/>
          <p:cNvSpPr txBox="1"/>
          <p:nvPr>
            <p:ph idx="1" type="body"/>
          </p:nvPr>
        </p:nvSpPr>
        <p:spPr>
          <a:xfrm>
            <a:off x="151275" y="5664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400"/>
              <a:t>Topic 1: Introduction to Quantum Computing</a:t>
            </a:r>
            <a:endParaRPr b="1"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400"/>
              <a:t>(K2, K4, A1, A2)</a:t>
            </a:r>
            <a:endParaRPr b="1" sz="24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Key Principles of Quantum Computing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Quantum Computing Platforms</a:t>
            </a:r>
            <a:endParaRPr b="1" sz="1800"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400"/>
              <a:t>Topic 2: Quantum States and Gates (K3, K5, A3, A4)</a:t>
            </a:r>
            <a:endParaRPr b="1" sz="24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Quantum State Vector Representations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Quantum Circuits and Quantum Gates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400"/>
              <a:t>Topic 3: Quantum Algorithms (K1, K6, A5, A6, A10)</a:t>
            </a:r>
            <a:endParaRPr b="1" sz="24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Coding Quantum Algorithms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Testing Quantum Algorithms</a:t>
            </a:r>
            <a:endParaRPr b="1"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Course Outline</a:t>
            </a:r>
            <a:endParaRPr i="0" sz="3600" u="none" cap="none" strike="noStrike"/>
          </a:p>
        </p:txBody>
      </p:sp>
      <p:sp>
        <p:nvSpPr>
          <p:cNvPr id="273" name="Google Shape;273;p59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400"/>
              <a:t>Topic 4: Quantum Computing Applications </a:t>
            </a:r>
            <a:endParaRPr b="1"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400"/>
              <a:t>(K7, A7, A8, A9)</a:t>
            </a:r>
            <a:endParaRPr b="1" sz="24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Introduction to Quantum Machine Learning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Introduction to Quantum Error Correction</a:t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Final Assessment</a:t>
            </a:r>
            <a:endParaRPr i="0" sz="3600" u="none" cap="none" strike="noStrike"/>
          </a:p>
        </p:txBody>
      </p:sp>
      <p:sp>
        <p:nvSpPr>
          <p:cNvPr id="279" name="Google Shape;279;p60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Written Assessment (Short Answer Questions) 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Practical Performance 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Assessment format: Open Book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Open book assessment ONLY includes Slides, Learner Guide or any approved materials.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Appeal process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Briefing for Assessment</a:t>
            </a:r>
            <a:endParaRPr/>
          </a:p>
        </p:txBody>
      </p:sp>
      <p:sp>
        <p:nvSpPr>
          <p:cNvPr id="285" name="Google Shape;285;p61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Place phones &amp; other materials under the table or on the floor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 photos or recording of assessment scripts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 discussion during assessment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black/blue pen for assessment [hard copies]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 usage of liquid paper or correction tape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Assessment scripts will be collected when the time is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Criteria for Funding</a:t>
            </a:r>
            <a:endParaRPr/>
          </a:p>
        </p:txBody>
      </p:sp>
      <p:sp>
        <p:nvSpPr>
          <p:cNvPr id="292" name="Google Shape;292;p62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Minimum attendance rate of 75% based on SSG Digital Attendance record.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Complete the assessment and be assessed as ‘Competent’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Access Google Classroom LMS</a:t>
            </a:r>
            <a:endParaRPr i="0" sz="3600" u="none" cap="none" strike="noStrike">
              <a:solidFill>
                <a:schemeClr val="dk2"/>
              </a:solidFill>
            </a:endParaRPr>
          </a:p>
        </p:txBody>
      </p:sp>
      <p:sp>
        <p:nvSpPr>
          <p:cNvPr id="299" name="Google Shape;299;p63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You can access more resources from Google classroom LMS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https://classroom.google.com/c/NjE1NDA5ODMyMTc4?cjc=2z4ctbb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Alternatively. You can go to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https://classroom.google.com</a:t>
            </a:r>
            <a:r>
              <a:rPr lang="en" sz="2400">
                <a:solidFill>
                  <a:schemeClr val="dk1"/>
                </a:solidFill>
              </a:rPr>
              <a:t> and enter the class code on the top right.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Google Class code: 2z4ctbb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457200" lvl="0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300" name="Google Shape;30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4"/>
          <p:cNvSpPr txBox="1"/>
          <p:nvPr>
            <p:ph type="ctrTitle"/>
          </p:nvPr>
        </p:nvSpPr>
        <p:spPr>
          <a:xfrm>
            <a:off x="0" y="744575"/>
            <a:ext cx="9144000" cy="321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/>
              <a:t>Topic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Quantum Computing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5"/>
          <p:cNvSpPr txBox="1"/>
          <p:nvPr>
            <p:ph idx="12" type="sldNum"/>
          </p:nvPr>
        </p:nvSpPr>
        <p:spPr>
          <a:xfrm>
            <a:off x="8472458" y="4358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65"/>
          <p:cNvSpPr txBox="1"/>
          <p:nvPr>
            <p:ph type="ctrTitle"/>
          </p:nvPr>
        </p:nvSpPr>
        <p:spPr>
          <a:xfrm>
            <a:off x="0" y="439775"/>
            <a:ext cx="9144000" cy="321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6"/>
          <p:cNvSpPr txBox="1"/>
          <p:nvPr>
            <p:ph type="ctrTitle"/>
          </p:nvPr>
        </p:nvSpPr>
        <p:spPr>
          <a:xfrm>
            <a:off x="0" y="439775"/>
            <a:ext cx="9144000" cy="321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Summary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317" name="Google Shape;317;p66"/>
          <p:cNvSpPr txBox="1"/>
          <p:nvPr>
            <p:ph idx="12" type="sldNum"/>
          </p:nvPr>
        </p:nvSpPr>
        <p:spPr>
          <a:xfrm>
            <a:off x="8472458" y="4358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7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699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344054"/>
                </a:solidFill>
                <a:highlight>
                  <a:schemeClr val="lt1"/>
                </a:highlight>
              </a:rPr>
              <a:t>Access the survey </a:t>
            </a: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/>
          </a:p>
          <a:p>
            <a:pPr indent="-393700" lvl="0" marL="4699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Key in your Last four NRIC/FIN characters and the Six-digit course run ID to complete the survey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5275" y="1839350"/>
            <a:ext cx="3041800" cy="30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6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TRAQOM Survey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8"/>
          <p:cNvSpPr txBox="1"/>
          <p:nvPr>
            <p:ph idx="1" type="body"/>
          </p:nvPr>
        </p:nvSpPr>
        <p:spPr>
          <a:xfrm>
            <a:off x="151275" y="572700"/>
            <a:ext cx="52029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Please provide the following details to facilitate the issuance of your certificate after the class and to ensure the accuracy of the information printed on it.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https://goo.gl/R2eumq</a:t>
            </a:r>
            <a:endParaRPr sz="1800"/>
          </a:p>
        </p:txBody>
      </p:sp>
      <p:pic>
        <p:nvPicPr>
          <p:cNvPr descr="qrcode-sgp.png" id="331" name="Google Shape;33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7450" y="2160675"/>
            <a:ext cx="2583175" cy="25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 Delivery</a:t>
            </a:r>
            <a:endParaRPr/>
          </a:p>
        </p:txBody>
      </p:sp>
      <p:sp>
        <p:nvSpPr>
          <p:cNvPr id="333" name="Google Shape;33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4" name="Google Shape;334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4824" y="631426"/>
            <a:ext cx="2986900" cy="42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9"/>
          <p:cNvSpPr txBox="1"/>
          <p:nvPr>
            <p:ph idx="1" type="body"/>
          </p:nvPr>
        </p:nvSpPr>
        <p:spPr>
          <a:xfrm>
            <a:off x="151275" y="642650"/>
            <a:ext cx="8730000" cy="42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It is </a:t>
            </a:r>
            <a:r>
              <a:rPr b="1" lang="en" u="sng">
                <a:solidFill>
                  <a:srgbClr val="FF0000"/>
                </a:solidFill>
              </a:rPr>
              <a:t>mandatory</a:t>
            </a:r>
            <a:r>
              <a:rPr lang="en">
                <a:solidFill>
                  <a:schemeClr val="dk1"/>
                </a:solidFill>
              </a:rPr>
              <a:t> for you to take both AM</a:t>
            </a:r>
            <a:r>
              <a:rPr lang="en"/>
              <a:t>, </a:t>
            </a:r>
            <a:r>
              <a:rPr lang="en">
                <a:solidFill>
                  <a:schemeClr val="dk1"/>
                </a:solidFill>
              </a:rPr>
              <a:t>PM and Assessment digital attendance for WSQ funded courses.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The trainer or administrator will show you the digital attendance QR code generated from </a:t>
            </a:r>
            <a:r>
              <a:rPr lang="en"/>
              <a:t>SSG portal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fortaa"/>
              <a:buChar char="●"/>
            </a:pPr>
            <a:r>
              <a:rPr lang="en">
                <a:solidFill>
                  <a:schemeClr val="dk1"/>
                </a:solidFill>
              </a:rPr>
              <a:t>Please scan the QR code from </a:t>
            </a:r>
            <a:r>
              <a:rPr b="1" lang="en" u="sng">
                <a:solidFill>
                  <a:srgbClr val="FF0000"/>
                </a:solidFill>
              </a:rPr>
              <a:t>your mobile phone camera</a:t>
            </a:r>
            <a:r>
              <a:rPr lang="en">
                <a:solidFill>
                  <a:schemeClr val="dk1"/>
                </a:solidFill>
              </a:rPr>
              <a:t> and submit your attendance.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0" name="Google Shape;340;p6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Attendance</a:t>
            </a:r>
            <a:endParaRPr/>
          </a:p>
        </p:txBody>
      </p:sp>
      <p:sp>
        <p:nvSpPr>
          <p:cNvPr id="341" name="Google Shape;341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0"/>
          <p:cNvSpPr txBox="1"/>
          <p:nvPr>
            <p:ph type="ctrTitle"/>
          </p:nvPr>
        </p:nvSpPr>
        <p:spPr>
          <a:xfrm>
            <a:off x="0" y="439775"/>
            <a:ext cx="9144000" cy="321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Final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</a:t>
            </a:r>
            <a:endParaRPr/>
          </a:p>
        </p:txBody>
      </p:sp>
      <p:sp>
        <p:nvSpPr>
          <p:cNvPr id="347" name="Google Shape;347;p70"/>
          <p:cNvSpPr txBox="1"/>
          <p:nvPr>
            <p:ph idx="12" type="sldNum"/>
          </p:nvPr>
        </p:nvSpPr>
        <p:spPr>
          <a:xfrm>
            <a:off x="8472458" y="4358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1"/>
          <p:cNvSpPr txBox="1"/>
          <p:nvPr>
            <p:ph idx="1" type="body"/>
          </p:nvPr>
        </p:nvSpPr>
        <p:spPr>
          <a:xfrm>
            <a:off x="113456" y="481988"/>
            <a:ext cx="66525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accent5"/>
              </a:solidFill>
            </a:endParaRPr>
          </a:p>
        </p:txBody>
      </p:sp>
      <p:sp>
        <p:nvSpPr>
          <p:cNvPr id="353" name="Google Shape;353;p71"/>
          <p:cNvSpPr txBox="1"/>
          <p:nvPr>
            <p:ph type="title"/>
          </p:nvPr>
        </p:nvSpPr>
        <p:spPr>
          <a:xfrm>
            <a:off x="0" y="0"/>
            <a:ext cx="91440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 Courses</a:t>
            </a:r>
            <a:endParaRPr/>
          </a:p>
        </p:txBody>
      </p:sp>
      <p:sp>
        <p:nvSpPr>
          <p:cNvPr id="354" name="Google Shape;354;p71"/>
          <p:cNvSpPr txBox="1"/>
          <p:nvPr/>
        </p:nvSpPr>
        <p:spPr>
          <a:xfrm>
            <a:off x="289525" y="773925"/>
            <a:ext cx="8698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WSQ - Python Fundamental Course for Beginners</a:t>
            </a:r>
            <a:endParaRPr sz="1800" u="sng">
              <a:solidFill>
                <a:schemeClr val="accent5"/>
              </a:solidFill>
            </a:endParaRPr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WSQ - Advancing Your Python Coding Skills to the Next Level with Object-Oriented Programming</a:t>
            </a:r>
            <a:endParaRPr sz="1800" u="sng">
              <a:solidFill>
                <a:schemeClr val="accent5"/>
              </a:solidFill>
            </a:endParaRPr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WSQ - Building Your First Machine Learning Model with Python and Tensorflow</a:t>
            </a:r>
            <a:endParaRPr sz="1800" u="sng">
              <a:solidFill>
                <a:schemeClr val="accent5"/>
              </a:solidFill>
            </a:endParaRPr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WSQ - Practical Reinforcement Learning for Beginners</a:t>
            </a:r>
            <a:endParaRPr sz="1800" u="sng">
              <a:solidFill>
                <a:schemeClr val="accent5"/>
              </a:solidFill>
            </a:endParaRPr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WSQ - Practical Image Generation Using GAN, VAE, and Diffusion Models</a:t>
            </a:r>
            <a:endParaRPr sz="1800" u="sng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7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</a:t>
            </a:r>
            <a:endParaRPr/>
          </a:p>
        </p:txBody>
      </p:sp>
      <p:sp>
        <p:nvSpPr>
          <p:cNvPr id="361" name="Google Shape;361;p72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have any enquiries during and after the class, you can contact us below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Email: </a:t>
            </a:r>
            <a:r>
              <a:rPr lang="en" u="sng">
                <a:solidFill>
                  <a:schemeClr val="hlink"/>
                </a:solidFill>
                <a:hlinkClick r:id="rId3"/>
              </a:rPr>
              <a:t>enquiry@tertiaryinfotech.com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Tel: 61000613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Whatsapp: 61000613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3"/>
          <p:cNvSpPr txBox="1"/>
          <p:nvPr>
            <p:ph idx="12" type="sldNum"/>
          </p:nvPr>
        </p:nvSpPr>
        <p:spPr>
          <a:xfrm>
            <a:off x="8472458" y="4358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73"/>
          <p:cNvSpPr txBox="1"/>
          <p:nvPr>
            <p:ph type="ctrTitle"/>
          </p:nvPr>
        </p:nvSpPr>
        <p:spPr>
          <a:xfrm>
            <a:off x="0" y="439775"/>
            <a:ext cx="9144000" cy="321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 WSQ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ster WSQ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aster WSQ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